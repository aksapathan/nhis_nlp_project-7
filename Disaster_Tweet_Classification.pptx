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9" d="100"/>
          <a:sy n="89" d="100"/>
        </p:scale>
        <p:origin x="437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472596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B6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-1188720"/>
            <a:ext cx="5029200" cy="5029200"/>
          </a:xfrm>
          <a:prstGeom prst="ellipse">
            <a:avLst/>
          </a:prstGeom>
          <a:solidFill>
            <a:srgbClr val="3949AB">
              <a:alpha val="6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182880"/>
            <a:ext cx="3108960" cy="3108960"/>
          </a:xfrm>
          <a:prstGeom prst="ellipse">
            <a:avLst/>
          </a:prstGeom>
          <a:solidFill>
            <a:srgbClr val="FF5A5F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1828800" y="5852160"/>
            <a:ext cx="3108960" cy="3108960"/>
          </a:xfrm>
          <a:prstGeom prst="ellipse">
            <a:avLst/>
          </a:prstGeom>
          <a:solidFill>
            <a:srgbClr val="00BFA6">
              <a:alpha val="38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-1005840" y="6400800"/>
            <a:ext cx="1645920" cy="1645920"/>
          </a:xfrm>
          <a:prstGeom prst="ellipse">
            <a:avLst/>
          </a:prstGeom>
          <a:solidFill>
            <a:srgbClr val="FFB020">
              <a:alpha val="45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777240"/>
            <a:ext cx="1051560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kern="0" spc="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         </a:t>
            </a:r>
            <a:r>
              <a:rPr lang="en-US" sz="4000" b="1" kern="0" spc="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NEXTHIKES IT SOLUTIONS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658368" y="1600200"/>
            <a:ext cx="2011680" cy="0"/>
          </a:xfrm>
          <a:prstGeom prst="line">
            <a:avLst/>
          </a:prstGeom>
          <a:noFill/>
          <a:ln w="38100">
            <a:solidFill>
              <a:srgbClr val="FFB02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233172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Disaster Tweet</a:t>
            </a:r>
            <a:endParaRPr lang="en-US" sz="46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310896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Classification using NLP</a:t>
            </a:r>
            <a:endParaRPr lang="en-US" sz="4600" dirty="0"/>
          </a:p>
        </p:txBody>
      </p:sp>
      <p:sp>
        <p:nvSpPr>
          <p:cNvPr id="10" name="Text 8"/>
          <p:cNvSpPr txBox="1"/>
          <p:nvPr/>
        </p:nvSpPr>
        <p:spPr>
          <a:xfrm>
            <a:off x="658368" y="39776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D6D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end-to-end machine learning pipeline that detects real disasters on Twitter in real time.</a:t>
            </a:r>
            <a:endParaRPr lang="en-US" sz="155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4800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kern="0" spc="150" dirty="0">
                <a:solidFill>
                  <a:srgbClr val="AEB6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Presented by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5047488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Aksa Pathan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640080" y="5989320"/>
            <a:ext cx="10881360" cy="0"/>
          </a:xfrm>
          <a:prstGeom prst="line">
            <a:avLst/>
          </a:prstGeom>
          <a:noFill/>
          <a:ln w="12700">
            <a:solidFill>
              <a:srgbClr val="4A529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" y="614476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00" dirty="0">
                <a:solidFill>
                  <a:srgbClr val="AEB6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DATASET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6391656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7,613 tweets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383280" y="614476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00" dirty="0">
                <a:solidFill>
                  <a:srgbClr val="AEB6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3383280" y="6391656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Logistic Regression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126480" y="614476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00" dirty="0">
                <a:solidFill>
                  <a:srgbClr val="AEB6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 F1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6126480" y="6391656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75.8%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869680" y="614476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00" dirty="0">
                <a:solidFill>
                  <a:srgbClr val="AEB6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DEPLOYMENT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8869680" y="6391656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Flask web app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82296" cy="82296"/>
          </a:xfrm>
          <a:prstGeom prst="ellipse">
            <a:avLst/>
          </a:prstGeom>
          <a:solidFill>
            <a:srgbClr val="00BFA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2743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kern="0" spc="120" dirty="0">
                <a:solidFill>
                  <a:srgbClr val="6670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NEXTHIKES IT SOLUTIONS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3949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CHALLENGE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2296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every “fire” is a fire.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600200"/>
            <a:ext cx="6949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Disaster relief agencies and news outlets want to monitor Twitter for real-time alerts — but tweets using disaster words metaphorically (“this song is fire”) look identical to real emergencies on the surface. The model must learn the difference.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48640" y="3063240"/>
            <a:ext cx="5212080" cy="1371600"/>
          </a:xfrm>
          <a:prstGeom prst="roundRect">
            <a:avLst>
              <a:gd name="adj" fmla="val 5333"/>
            </a:avLst>
          </a:prstGeom>
          <a:solidFill>
            <a:srgbClr val="F5F7FC"/>
          </a:solidFill>
          <a:ln w="12700">
            <a:solidFill>
              <a:srgbClr val="E3E7F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3383280"/>
            <a:ext cx="640080" cy="640080"/>
          </a:xfrm>
          <a:prstGeom prst="ellipse">
            <a:avLst/>
          </a:prstGeom>
          <a:solidFill>
            <a:srgbClr val="FF5A5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22960" y="33832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80" dirty="0"/>
          </a:p>
        </p:txBody>
      </p:sp>
      <p:sp>
        <p:nvSpPr>
          <p:cNvPr id="10" name="Text 8"/>
          <p:cNvSpPr txBox="1"/>
          <p:nvPr/>
        </p:nvSpPr>
        <p:spPr>
          <a:xfrm>
            <a:off x="1691640" y="3264408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Accuracy &amp; Precision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691640" y="3630168"/>
            <a:ext cx="3886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Minimize false alarms while catching real emergencies.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80760" y="3063240"/>
            <a:ext cx="5212080" cy="1371600"/>
          </a:xfrm>
          <a:prstGeom prst="roundRect">
            <a:avLst>
              <a:gd name="adj" fmla="val 5333"/>
            </a:avLst>
          </a:prstGeom>
          <a:solidFill>
            <a:srgbClr val="F5F7FC"/>
          </a:solidFill>
          <a:ln w="12700">
            <a:solidFill>
              <a:srgbClr val="E3E7F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55080" y="3383280"/>
            <a:ext cx="640080" cy="640080"/>
          </a:xfrm>
          <a:prstGeom prst="ellipse">
            <a:avLst/>
          </a:prstGeom>
          <a:solidFill>
            <a:srgbClr val="00BFA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355080" y="33832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80" dirty="0"/>
          </a:p>
        </p:txBody>
      </p:sp>
      <p:sp>
        <p:nvSpPr>
          <p:cNvPr id="15" name="Text 13"/>
          <p:cNvSpPr txBox="1"/>
          <p:nvPr/>
        </p:nvSpPr>
        <p:spPr>
          <a:xfrm>
            <a:off x="7223760" y="3264408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Robustness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7223760" y="3630168"/>
            <a:ext cx="3886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 slang, abbreviations, and cultural nuance.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4663440"/>
            <a:ext cx="5212080" cy="1371600"/>
          </a:xfrm>
          <a:prstGeom prst="roundRect">
            <a:avLst>
              <a:gd name="adj" fmla="val 5333"/>
            </a:avLst>
          </a:prstGeom>
          <a:solidFill>
            <a:srgbClr val="F5F7FC"/>
          </a:solidFill>
          <a:ln w="12700">
            <a:solidFill>
              <a:srgbClr val="E3E7F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" y="4983480"/>
            <a:ext cx="640080" cy="640080"/>
          </a:xfrm>
          <a:prstGeom prst="ellipse">
            <a:avLst/>
          </a:prstGeom>
          <a:solidFill>
            <a:srgbClr val="FFB020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22960" y="49834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80" dirty="0"/>
          </a:p>
        </p:txBody>
      </p:sp>
      <p:sp>
        <p:nvSpPr>
          <p:cNvPr id="20" name="Text 18"/>
          <p:cNvSpPr txBox="1"/>
          <p:nvPr/>
        </p:nvSpPr>
        <p:spPr>
          <a:xfrm>
            <a:off x="1691640" y="4864608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Scalability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691640" y="5230368"/>
            <a:ext cx="3886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large volumes of tweets continuously.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080760" y="4663440"/>
            <a:ext cx="5212080" cy="1371600"/>
          </a:xfrm>
          <a:prstGeom prst="roundRect">
            <a:avLst>
              <a:gd name="adj" fmla="val 5333"/>
            </a:avLst>
          </a:prstGeom>
          <a:solidFill>
            <a:srgbClr val="F5F7FC"/>
          </a:solidFill>
          <a:ln w="12700">
            <a:solidFill>
              <a:srgbClr val="E3E7F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355080" y="4983480"/>
            <a:ext cx="640080" cy="640080"/>
          </a:xfrm>
          <a:prstGeom prst="ellipse">
            <a:avLst/>
          </a:prstGeom>
          <a:solidFill>
            <a:srgbClr val="7C5CFC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355080" y="49834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80" dirty="0"/>
          </a:p>
        </p:txBody>
      </p:sp>
      <p:sp>
        <p:nvSpPr>
          <p:cNvPr id="25" name="Text 23"/>
          <p:cNvSpPr txBox="1"/>
          <p:nvPr/>
        </p:nvSpPr>
        <p:spPr>
          <a:xfrm>
            <a:off x="7223760" y="4864608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detection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7223760" y="5230368"/>
            <a:ext cx="3886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live monitoring, not batch review.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1000232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670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/ 12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82296" cy="82296"/>
          </a:xfrm>
          <a:prstGeom prst="ellipse">
            <a:avLst/>
          </a:prstGeom>
          <a:solidFill>
            <a:srgbClr val="00BFA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2743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kern="0" spc="120" dirty="0">
                <a:solidFill>
                  <a:srgbClr val="6670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NEXTHIKES IT SOLUTIONS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3949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 1 — DATA EXPLORATION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2296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7,613 hand-labeled tweets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548640" y="1874520"/>
            <a:ext cx="3474720" cy="1463040"/>
          </a:xfrm>
          <a:prstGeom prst="roundRect">
            <a:avLst>
              <a:gd name="adj" fmla="val 5000"/>
            </a:avLst>
          </a:prstGeom>
          <a:solidFill>
            <a:srgbClr val="F5F7FC"/>
          </a:solidFill>
          <a:ln w="12700">
            <a:solidFill>
              <a:srgbClr val="E3E7F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075688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3949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7,613</a:t>
            </a:r>
            <a:endParaRPr lang="en-US" sz="28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74320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tweets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297680" y="1874520"/>
            <a:ext cx="3474720" cy="1463040"/>
          </a:xfrm>
          <a:prstGeom prst="roundRect">
            <a:avLst>
              <a:gd name="adj" fmla="val 5000"/>
            </a:avLst>
          </a:prstGeom>
          <a:solidFill>
            <a:srgbClr val="F5F7FC"/>
          </a:solidFill>
          <a:ln w="12700">
            <a:solidFill>
              <a:srgbClr val="E3E7F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0" y="2075688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4572000" y="274320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Columns: id, keyword, location, text, target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46720" y="1874520"/>
            <a:ext cx="3474720" cy="1463040"/>
          </a:xfrm>
          <a:prstGeom prst="roundRect">
            <a:avLst>
              <a:gd name="adj" fmla="val 5000"/>
            </a:avLst>
          </a:prstGeom>
          <a:solidFill>
            <a:srgbClr val="F5F7FC"/>
          </a:solidFill>
          <a:ln w="12700">
            <a:solidFill>
              <a:srgbClr val="E3E7F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2075688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BF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57% / 43%</a:t>
            </a:r>
            <a:endParaRPr 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274320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Not-disaster / disaster split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3611880"/>
            <a:ext cx="3474720" cy="1463040"/>
          </a:xfrm>
          <a:prstGeom prst="roundRect">
            <a:avLst>
              <a:gd name="adj" fmla="val 5000"/>
            </a:avLst>
          </a:prstGeom>
          <a:solidFill>
            <a:srgbClr val="F5F7FC"/>
          </a:solidFill>
          <a:ln w="12700">
            <a:solidFill>
              <a:srgbClr val="E3E7F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2960" y="3813048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B02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222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448056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Distinct keyword values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297680" y="3611880"/>
            <a:ext cx="3474720" cy="1463040"/>
          </a:xfrm>
          <a:prstGeom prst="roundRect">
            <a:avLst>
              <a:gd name="adj" fmla="val 5000"/>
            </a:avLst>
          </a:prstGeom>
          <a:solidFill>
            <a:srgbClr val="F5F7FC"/>
          </a:solidFill>
          <a:ln w="12700">
            <a:solidFill>
              <a:srgbClr val="E3E7F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572000" y="3813048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BF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28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0" y="448056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text or target values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046720" y="3611880"/>
            <a:ext cx="3474720" cy="1463040"/>
          </a:xfrm>
          <a:prstGeom prst="roundRect">
            <a:avLst>
              <a:gd name="adj" fmla="val 5000"/>
            </a:avLst>
          </a:prstGeom>
          <a:solidFill>
            <a:srgbClr val="F5F7FC"/>
          </a:solidFill>
          <a:ln w="12700">
            <a:solidFill>
              <a:srgbClr val="E3E7F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321040" y="3813048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5A5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110</a:t>
            </a:r>
            <a:endParaRPr lang="en-US" sz="2800" dirty="0"/>
          </a:p>
        </p:txBody>
      </p:sp>
      <p:sp>
        <p:nvSpPr>
          <p:cNvPr id="23" name="Text 21"/>
          <p:cNvSpPr txBox="1"/>
          <p:nvPr/>
        </p:nvSpPr>
        <p:spPr>
          <a:xfrm>
            <a:off x="8321040" y="448056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 tweet texts (retweets)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1000232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670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/ 12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82296" cy="82296"/>
          </a:xfrm>
          <a:prstGeom prst="ellipse">
            <a:avLst/>
          </a:prstGeom>
          <a:solidFill>
            <a:srgbClr val="00BFA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2743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kern="0" spc="120" dirty="0">
                <a:solidFill>
                  <a:srgbClr val="6670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NEXTHIKES IT SOLUTIONS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3949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EXPLORATORY DATA ANALYSIS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229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mild class imbalance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48640" y="1554480"/>
            <a:ext cx="6949440" cy="4160520"/>
          </a:xfrm>
          <a:prstGeom prst="roundRect">
            <a:avLst>
              <a:gd name="adj" fmla="val 1758"/>
            </a:avLst>
          </a:prstGeom>
          <a:solidFill>
            <a:srgbClr val="FFFFFF"/>
          </a:solidFill>
          <a:ln w="15875">
            <a:solidFill>
              <a:srgbClr val="E3E7F1"/>
            </a:solidFill>
            <a:prstDash val="solid"/>
          </a:ln>
        </p:spPr>
      </p:sp>
      <p:pic>
        <p:nvPicPr>
          <p:cNvPr id="7" name="Image 0" descr="class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301240"/>
            <a:ext cx="6400800" cy="26670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818120" y="1600200"/>
            <a:ext cx="3794760" cy="4160520"/>
          </a:xfrm>
          <a:prstGeom prst="roundRect">
            <a:avLst>
              <a:gd name="adj" fmla="val 1928"/>
            </a:avLst>
          </a:prstGeom>
          <a:solidFill>
            <a:srgbClr val="FFF4EC"/>
          </a:solidFill>
          <a:ln w="12700">
            <a:solidFill>
              <a:srgbClr val="E3E7F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046720" y="18288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5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this matters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8046720" y="2286000"/>
            <a:ext cx="33375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4,342 non-disaster vs. 3,271 disaster tweets</a:t>
            </a:r>
            <a:endParaRPr lang="en-US" sz="1300" dirty="0"/>
          </a:p>
          <a:p>
            <a:pPr marL="228600" indent="-2286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that always guessed “not disaster” would already score ~57% accuracy</a:t>
            </a:r>
            <a:endParaRPr lang="en-US" sz="1300" dirty="0"/>
          </a:p>
          <a:p>
            <a:pPr marL="228600" indent="-2286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alone is misleading — F1, precision &amp; recall matter more</a:t>
            </a:r>
            <a:endParaRPr lang="en-US" sz="1300" dirty="0"/>
          </a:p>
          <a:p>
            <a:pPr marL="228600" indent="-2286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Stratified train/test split keeps this ratio consistent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670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/ 12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82296" cy="82296"/>
          </a:xfrm>
          <a:prstGeom prst="ellipse">
            <a:avLst/>
          </a:prstGeom>
          <a:solidFill>
            <a:srgbClr val="00BFA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2743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kern="0" spc="120" dirty="0">
                <a:solidFill>
                  <a:srgbClr val="6670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NEXTHIKES IT SOLUTIONS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3949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EXPLORATORY DATA ANALYSIS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2296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Length and keywords carry real signal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6400800" cy="3154680"/>
          </a:xfrm>
          <a:prstGeom prst="roundRect">
            <a:avLst>
              <a:gd name="adj" fmla="val 2319"/>
            </a:avLst>
          </a:prstGeom>
          <a:solidFill>
            <a:srgbClr val="FFFFFF"/>
          </a:solidFill>
          <a:ln w="15875">
            <a:solidFill>
              <a:srgbClr val="E3E7F1"/>
            </a:solidFill>
            <a:prstDash val="solid"/>
          </a:ln>
        </p:spPr>
      </p:sp>
      <p:pic>
        <p:nvPicPr>
          <p:cNvPr id="7" name="Image 0" descr="length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2023989"/>
            <a:ext cx="5998464" cy="2307102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223760" y="1600200"/>
            <a:ext cx="4434840" cy="3291840"/>
          </a:xfrm>
          <a:prstGeom prst="roundRect">
            <a:avLst>
              <a:gd name="adj" fmla="val 2222"/>
            </a:avLst>
          </a:prstGeom>
          <a:solidFill>
            <a:srgbClr val="FFF4EC"/>
          </a:solidFill>
          <a:ln w="12700">
            <a:solidFill>
              <a:srgbClr val="E3E7F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452360" y="181051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Disaster tweets run longer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7452360" y="214884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108 vs. 96 characters — real reports pack in more concrete detail (location, casualty counts, official terms).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7452360" y="2788920"/>
            <a:ext cx="3931920" cy="0"/>
          </a:xfrm>
          <a:prstGeom prst="line">
            <a:avLst/>
          </a:prstGeom>
          <a:noFill/>
          <a:ln w="12700">
            <a:solidFill>
              <a:srgbClr val="E3E7F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452360" y="2907792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Keywords aren’t enough on their own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7452360" y="329184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derailment, wreckage, debris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10195560" y="32918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FF5A5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100% disaster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7452360" y="3822192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aftershock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10195560" y="382219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00BF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0% disaster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452360" y="4352544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body%20bags, blazing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10195560" y="4352544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00BF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~3% disaster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1000232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670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/ 12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82296" cy="82296"/>
          </a:xfrm>
          <a:prstGeom prst="ellipse">
            <a:avLst/>
          </a:prstGeom>
          <a:solidFill>
            <a:srgbClr val="00BFA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2743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kern="0" spc="120" dirty="0">
                <a:solidFill>
                  <a:srgbClr val="6670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NEXTHIKES IT SOLUTIONS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3949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EXPLORATORY DATA ANALYSIS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2296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common words, by class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11064240" cy="4846320"/>
          </a:xfrm>
          <a:prstGeom prst="roundRect">
            <a:avLst>
              <a:gd name="adj" fmla="val 1509"/>
            </a:avLst>
          </a:prstGeom>
          <a:solidFill>
            <a:srgbClr val="FFFFFF"/>
          </a:solidFill>
          <a:ln w="15875">
            <a:solidFill>
              <a:srgbClr val="E3E7F1"/>
            </a:solidFill>
            <a:prstDash val="solid"/>
          </a:ln>
        </p:spPr>
      </p:sp>
      <p:pic>
        <p:nvPicPr>
          <p:cNvPr id="7" name="Image 0" descr="wordcloud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6705" y="1856232"/>
            <a:ext cx="9908109" cy="433425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1000232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670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/ 12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82296" cy="82296"/>
          </a:xfrm>
          <a:prstGeom prst="ellipse">
            <a:avLst/>
          </a:prstGeom>
          <a:solidFill>
            <a:srgbClr val="00BFA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2743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kern="0" spc="120" dirty="0">
                <a:solidFill>
                  <a:srgbClr val="6670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NEXTHIKES IT SOLUTIONS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3949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PARTS 1–2 — PREPARATION &amp; FEATURES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2296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raw tweet to model-ready features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48640" y="1965960"/>
            <a:ext cx="2606040" cy="3017520"/>
          </a:xfrm>
          <a:prstGeom prst="roundRect">
            <a:avLst>
              <a:gd name="adj" fmla="val 2807"/>
            </a:avLst>
          </a:prstGeom>
          <a:solidFill>
            <a:srgbClr val="F5F7FC"/>
          </a:solidFill>
          <a:ln w="12700">
            <a:solidFill>
              <a:srgbClr val="E3E7F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77240" y="2240280"/>
            <a:ext cx="548640" cy="548640"/>
          </a:xfrm>
          <a:prstGeom prst="ellipse">
            <a:avLst/>
          </a:prstGeom>
          <a:solidFill>
            <a:srgbClr val="FF5A5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77240" y="2240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4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301752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Clean text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3749040"/>
            <a:ext cx="214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Lowercase, strip URLs, mentions, HTML entities, punctuation &amp; digits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3154680" y="3246120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3383280" y="1965960"/>
            <a:ext cx="2606040" cy="3017520"/>
          </a:xfrm>
          <a:prstGeom prst="roundRect">
            <a:avLst>
              <a:gd name="adj" fmla="val 2807"/>
            </a:avLst>
          </a:prstGeom>
          <a:solidFill>
            <a:srgbClr val="F5F7FC"/>
          </a:solidFill>
          <a:ln w="12700">
            <a:solidFill>
              <a:srgbClr val="E3E7F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11880" y="2240280"/>
            <a:ext cx="548640" cy="548640"/>
          </a:xfrm>
          <a:prstGeom prst="ellipse">
            <a:avLst/>
          </a:prstGeom>
          <a:solidFill>
            <a:srgbClr val="FFB02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611880" y="2240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40" dirty="0"/>
          </a:p>
        </p:txBody>
      </p:sp>
      <p:sp>
        <p:nvSpPr>
          <p:cNvPr id="15" name="Text 13"/>
          <p:cNvSpPr txBox="1"/>
          <p:nvPr/>
        </p:nvSpPr>
        <p:spPr>
          <a:xfrm>
            <a:off x="3611880" y="301752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Tokenize &amp; lemmatize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3611880" y="3749040"/>
            <a:ext cx="214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NLTK word tokenizer + stopword removal + lemmatization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5989320" y="3246120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6217920" y="1965960"/>
            <a:ext cx="2606040" cy="3017520"/>
          </a:xfrm>
          <a:prstGeom prst="roundRect">
            <a:avLst>
              <a:gd name="adj" fmla="val 2807"/>
            </a:avLst>
          </a:prstGeom>
          <a:solidFill>
            <a:srgbClr val="F5F7FC"/>
          </a:solidFill>
          <a:ln w="12700">
            <a:solidFill>
              <a:srgbClr val="E3E7F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46520" y="2240280"/>
            <a:ext cx="548640" cy="548640"/>
          </a:xfrm>
          <a:prstGeom prst="ellipse">
            <a:avLst/>
          </a:prstGeom>
          <a:solidFill>
            <a:srgbClr val="00BFA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46520" y="2240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40" dirty="0"/>
          </a:p>
        </p:txBody>
      </p:sp>
      <p:sp>
        <p:nvSpPr>
          <p:cNvPr id="21" name="Text 19"/>
          <p:cNvSpPr txBox="1"/>
          <p:nvPr/>
        </p:nvSpPr>
        <p:spPr>
          <a:xfrm>
            <a:off x="6446520" y="301752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TF‑IDF vectorize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446520" y="3749040"/>
            <a:ext cx="214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Uni-grams, up to 8,000 features, sublinear term scaling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8823960" y="3246120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9052560" y="1965960"/>
            <a:ext cx="2606040" cy="3017520"/>
          </a:xfrm>
          <a:prstGeom prst="roundRect">
            <a:avLst>
              <a:gd name="adj" fmla="val 2807"/>
            </a:avLst>
          </a:prstGeom>
          <a:solidFill>
            <a:srgbClr val="F5F7FC"/>
          </a:solidFill>
          <a:ln w="12700">
            <a:solidFill>
              <a:srgbClr val="E3E7F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281160" y="2240280"/>
            <a:ext cx="548640" cy="548640"/>
          </a:xfrm>
          <a:prstGeom prst="ellipse">
            <a:avLst/>
          </a:prstGeom>
          <a:solidFill>
            <a:srgbClr val="7C5CFC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281160" y="2240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40" dirty="0"/>
          </a:p>
        </p:txBody>
      </p:sp>
      <p:sp>
        <p:nvSpPr>
          <p:cNvPr id="27" name="Text 25"/>
          <p:cNvSpPr txBox="1"/>
          <p:nvPr/>
        </p:nvSpPr>
        <p:spPr>
          <a:xfrm>
            <a:off x="9281160" y="301752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engineered features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9281160" y="3749040"/>
            <a:ext cx="214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Hashtag / mention / URL flags, punctuation intensity, word count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52578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Labels were already numeric (0 = not disaster, 1 = disaster) — verified, not re-encoded. Data split 80/20 with stratification to preserve class balance in both sets.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11000232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670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 / 12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82296" cy="82296"/>
          </a:xfrm>
          <a:prstGeom prst="ellipse">
            <a:avLst/>
          </a:prstGeom>
          <a:solidFill>
            <a:srgbClr val="00BFA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2743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kern="0" spc="120" dirty="0">
                <a:solidFill>
                  <a:srgbClr val="6670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NEXTHIKES IT SOLUTIONS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3949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 2 — MODEL SELECTION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2296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models, benchmarked with cross-validation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6858000" cy="4480560"/>
          </a:xfrm>
          <a:prstGeom prst="roundRect">
            <a:avLst>
              <a:gd name="adj" fmla="val 1633"/>
            </a:avLst>
          </a:prstGeom>
          <a:solidFill>
            <a:srgbClr val="FFFFFF"/>
          </a:solidFill>
          <a:ln w="15875">
            <a:solidFill>
              <a:srgbClr val="E3E7F1"/>
            </a:solidFill>
            <a:prstDash val="solid"/>
          </a:ln>
        </p:spPr>
      </p:sp>
      <p:pic>
        <p:nvPicPr>
          <p:cNvPr id="7" name="Image 0" descr="model_comparison_c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087880"/>
            <a:ext cx="6309360" cy="3505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635240" y="1600200"/>
            <a:ext cx="4023360" cy="4480560"/>
          </a:xfrm>
          <a:prstGeom prst="roundRect">
            <a:avLst>
              <a:gd name="adj" fmla="val 1818"/>
            </a:avLst>
          </a:prstGeom>
          <a:solidFill>
            <a:srgbClr val="FFF4EC"/>
          </a:solidFill>
          <a:ln w="12700">
            <a:solidFill>
              <a:srgbClr val="E3E7F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863840" y="181051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5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5-fold CV — mean F1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863840" y="224028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 Regression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10332720" y="224028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00BF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0.737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7863840" y="274320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SVM (SGD)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10332720" y="274320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6670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0.735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7863840" y="324612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Multinomial Naïve Bayes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10332720" y="32461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6670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0.722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7863840" y="374904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</a:t>
            </a:r>
            <a:endParaRPr lang="en-US" sz="125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0" y="374904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6670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0.707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7863840" y="4343400"/>
            <a:ext cx="3566160" cy="0"/>
          </a:xfrm>
          <a:prstGeom prst="line">
            <a:avLst/>
          </a:prstGeom>
          <a:noFill/>
          <a:ln w="12700">
            <a:solidFill>
              <a:srgbClr val="E3E7F1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863840" y="448056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Winner: Logistic Regression — tuned via GridSearchCV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7863840" y="484632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670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Best params: C = 3.0, max_features = 8,000, ngram_range = (1,1)</a:t>
            </a:r>
            <a:endParaRPr lang="en-US" sz="1050" dirty="0"/>
          </a:p>
        </p:txBody>
      </p:sp>
      <p:sp>
        <p:nvSpPr>
          <p:cNvPr id="21" name="Text 18"/>
          <p:cNvSpPr txBox="1"/>
          <p:nvPr/>
        </p:nvSpPr>
        <p:spPr>
          <a:xfrm>
            <a:off x="11000232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670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 / 12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82296" cy="82296"/>
          </a:xfrm>
          <a:prstGeom prst="ellipse">
            <a:avLst/>
          </a:prstGeom>
          <a:solidFill>
            <a:srgbClr val="00BFA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2743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kern="0" spc="120" dirty="0">
                <a:solidFill>
                  <a:srgbClr val="6670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NEXTHIKES IT SOLUTIONS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3949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 3 — MODEL EVALUATION &amp; VALIDATION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2296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Confusion matrix, ROC &amp; precision-recall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11064240" cy="3977640"/>
          </a:xfrm>
          <a:prstGeom prst="roundRect">
            <a:avLst>
              <a:gd name="adj" fmla="val 1839"/>
            </a:avLst>
          </a:prstGeom>
          <a:solidFill>
            <a:srgbClr val="FFFFFF"/>
          </a:solidFill>
          <a:ln w="15875">
            <a:solidFill>
              <a:srgbClr val="E3E7F1"/>
            </a:solidFill>
            <a:prstDash val="solid"/>
          </a:ln>
        </p:spPr>
      </p:sp>
      <p:pic>
        <p:nvPicPr>
          <p:cNvPr id="7" name="Image 0" descr="evaluation_curv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115820"/>
            <a:ext cx="10607040" cy="29464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48640" y="576072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3949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79.9%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62636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00" dirty="0">
                <a:solidFill>
                  <a:srgbClr val="6670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ACCURACY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3337560" y="576072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B02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78.6%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3337560" y="62636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00" dirty="0">
                <a:solidFill>
                  <a:srgbClr val="6670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PRECISION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6126480" y="576072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5A5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73.1%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6126480" y="62636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00" dirty="0">
                <a:solidFill>
                  <a:srgbClr val="6670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RECALL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8915400" y="576072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BF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75.8%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8915400" y="62636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00" dirty="0">
                <a:solidFill>
                  <a:srgbClr val="6670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F1-SCORE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11000232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670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 / 12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82296" cy="82296"/>
          </a:xfrm>
          <a:prstGeom prst="ellipse">
            <a:avLst/>
          </a:prstGeom>
          <a:solidFill>
            <a:srgbClr val="00BFA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2743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kern="0" spc="120" dirty="0">
                <a:solidFill>
                  <a:srgbClr val="6670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NEXTHIKES IT SOLUTIONS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3949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 3 — FINAL COMPARISON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2296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Held-out test set: final scoreboard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7315200" cy="4480560"/>
          </a:xfrm>
          <a:prstGeom prst="roundRect">
            <a:avLst>
              <a:gd name="adj" fmla="val 1633"/>
            </a:avLst>
          </a:prstGeom>
          <a:solidFill>
            <a:srgbClr val="FFFFFF"/>
          </a:solidFill>
          <a:ln w="15875">
            <a:solidFill>
              <a:srgbClr val="E3E7F1"/>
            </a:solidFill>
            <a:prstDash val="solid"/>
          </a:ln>
        </p:spPr>
      </p:sp>
      <p:pic>
        <p:nvPicPr>
          <p:cNvPr id="7" name="Image 0" descr="final_model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148840"/>
            <a:ext cx="6766560" cy="33832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092440" y="1600200"/>
            <a:ext cx="3566160" cy="3429000"/>
          </a:xfrm>
          <a:prstGeom prst="roundRect">
            <a:avLst>
              <a:gd name="adj" fmla="val 2133"/>
            </a:avLst>
          </a:prstGeom>
          <a:solidFill>
            <a:srgbClr val="FFF4EC"/>
          </a:solidFill>
          <a:ln w="12700">
            <a:solidFill>
              <a:srgbClr val="E3E7F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321040" y="18288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5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Error analysis (20% miss rate)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8321040" y="2286000"/>
            <a:ext cx="31546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 See Fire” (song title) → wrongly flagged as disaster</a:t>
            </a:r>
            <a:endParaRPr lang="en-US" sz="1250" dirty="0"/>
          </a:p>
          <a:p>
            <a:pPr marL="228600" indent="-2286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“The City was rioting” → missed as a false negative</a:t>
            </a:r>
            <a:endParaRPr lang="en-US" sz="1250" dirty="0"/>
          </a:p>
          <a:p>
            <a:pPr marL="228600" indent="-2286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cause: bag-of-words can’t detect slang, sarcasm, or song lyrics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670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/ 12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82296" cy="82296"/>
          </a:xfrm>
          <a:prstGeom prst="ellipse">
            <a:avLst/>
          </a:prstGeom>
          <a:solidFill>
            <a:srgbClr val="00BFA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2743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kern="0" spc="120" dirty="0">
                <a:solidFill>
                  <a:srgbClr val="6670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NEXTHIKES IT SOLUTIONS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3949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 4 — DEPLOYMENT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2296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in a Flask web app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3246120" cy="4846320"/>
          </a:xfrm>
          <a:prstGeom prst="roundRect">
            <a:avLst>
              <a:gd name="adj" fmla="val 2254"/>
            </a:avLst>
          </a:prstGeom>
          <a:solidFill>
            <a:srgbClr val="F5F7FC"/>
          </a:solidFill>
          <a:ln w="15875">
            <a:solidFill>
              <a:srgbClr val="E3E7F1"/>
            </a:solidFill>
            <a:prstDash val="solid"/>
          </a:ln>
        </p:spPr>
      </p:sp>
      <p:pic>
        <p:nvPicPr>
          <p:cNvPr id="7" name="Image 0" descr="dashboard_live_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2056028"/>
            <a:ext cx="3026664" cy="3934663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3977640" y="1600200"/>
            <a:ext cx="3246120" cy="4846320"/>
          </a:xfrm>
          <a:prstGeom prst="roundRect">
            <a:avLst>
              <a:gd name="adj" fmla="val 2254"/>
            </a:avLst>
          </a:prstGeom>
          <a:solidFill>
            <a:srgbClr val="F5F7FC"/>
          </a:solidFill>
          <a:ln w="15875">
            <a:solidFill>
              <a:srgbClr val="E3E7F1"/>
            </a:solidFill>
            <a:prstDash val="solid"/>
          </a:ln>
        </p:spPr>
      </p:sp>
      <p:pic>
        <p:nvPicPr>
          <p:cNvPr id="9" name="Image 1" descr="dashboard_result_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87368" y="2415445"/>
            <a:ext cx="3026664" cy="3215831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7406640" y="1600200"/>
            <a:ext cx="4251960" cy="4846320"/>
          </a:xfrm>
          <a:prstGeom prst="roundRect">
            <a:avLst>
              <a:gd name="adj" fmla="val 1720"/>
            </a:avLst>
          </a:prstGeom>
          <a:solidFill>
            <a:srgbClr val="FFF4EC"/>
          </a:solidFill>
          <a:ln w="12700">
            <a:solidFill>
              <a:srgbClr val="E3E7F1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635240" y="182880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works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7635240" y="2240280"/>
            <a:ext cx="379476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 pipeline (TF-IDF + features + model) serialized as one joblib artifact</a:t>
            </a:r>
            <a:endParaRPr lang="en-US" sz="1250" dirty="0"/>
          </a:p>
          <a:p>
            <a:pPr marL="228600" indent="-2286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Flask backend reproduces identical text cleaning at inference time</a:t>
            </a:r>
            <a:endParaRPr lang="en-US" sz="1250" dirty="0"/>
          </a:p>
          <a:p>
            <a:pPr marL="228600" indent="-2286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 — web form with live confidence score</a:t>
            </a:r>
            <a:endParaRPr lang="en-US" sz="1250" dirty="0"/>
          </a:p>
          <a:p>
            <a:pPr marL="228600" indent="-2286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/api/predict — JSON REST endpoint for integration</a:t>
            </a:r>
            <a:endParaRPr lang="en-US" sz="1250" dirty="0"/>
          </a:p>
          <a:p>
            <a:pPr marL="228600" indent="-2286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/health — health check for cloud deployment</a:t>
            </a:r>
            <a:endParaRPr lang="en-US" sz="1250" dirty="0"/>
          </a:p>
        </p:txBody>
      </p:sp>
      <p:sp>
        <p:nvSpPr>
          <p:cNvPr id="13" name="Text 9"/>
          <p:cNvSpPr txBox="1"/>
          <p:nvPr/>
        </p:nvSpPr>
        <p:spPr>
          <a:xfrm>
            <a:off x="11000232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670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 / 12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82296" cy="82296"/>
          </a:xfrm>
          <a:prstGeom prst="ellipse">
            <a:avLst/>
          </a:prstGeom>
          <a:solidFill>
            <a:srgbClr val="00BFA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2743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kern="0" spc="120" dirty="0">
                <a:solidFill>
                  <a:srgbClr val="6670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NEXTHIKES IT SOLUTIONS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3949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CONCLUSION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2296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built — and what’s next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737360"/>
            <a:ext cx="5349240" cy="3931920"/>
          </a:xfrm>
          <a:prstGeom prst="roundRect">
            <a:avLst>
              <a:gd name="adj" fmla="val 1860"/>
            </a:avLst>
          </a:prstGeom>
          <a:solidFill>
            <a:srgbClr val="EAF7F3"/>
          </a:solidFill>
          <a:ln w="12700">
            <a:solidFill>
              <a:srgbClr val="E3E7F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19659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E8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Delivered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423160"/>
            <a:ext cx="47548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15000"/>
              </a:lnSpc>
              <a:spcAft>
                <a:spcPts val="16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EDA on 7,613 hand-labeled tweets</a:t>
            </a:r>
            <a:endParaRPr lang="en-US" sz="1350" dirty="0"/>
          </a:p>
          <a:p>
            <a:pPr marL="228600" indent="-228600">
              <a:lnSpc>
                <a:spcPct val="115000"/>
              </a:lnSpc>
              <a:spcAft>
                <a:spcPts val="16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Cleaned, tokenized, lemmatized text pipeline</a:t>
            </a:r>
            <a:endParaRPr lang="en-US" sz="1350" dirty="0"/>
          </a:p>
          <a:p>
            <a:pPr marL="228600" indent="-228600">
              <a:lnSpc>
                <a:spcPct val="115000"/>
              </a:lnSpc>
              <a:spcAft>
                <a:spcPts val="16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models benchmarked, best one tuned via GridSearchCV</a:t>
            </a:r>
            <a:endParaRPr lang="en-US" sz="1350" dirty="0"/>
          </a:p>
          <a:p>
            <a:pPr marL="228600" indent="-228600">
              <a:lnSpc>
                <a:spcPct val="115000"/>
              </a:lnSpc>
              <a:spcAft>
                <a:spcPts val="16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79.9% accuracy / 75.8% F1 on unseen tweets</a:t>
            </a:r>
            <a:endParaRPr lang="en-US" sz="1350" dirty="0"/>
          </a:p>
          <a:p>
            <a:pPr marL="228600" indent="-228600">
              <a:lnSpc>
                <a:spcPct val="115000"/>
              </a:lnSpc>
              <a:spcAft>
                <a:spcPts val="16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Confusion matrix, ROC-AUC, and manual error analysis</a:t>
            </a:r>
            <a:endParaRPr lang="en-US" sz="1350" dirty="0"/>
          </a:p>
          <a:p>
            <a:pPr marL="228600" indent="-228600">
              <a:lnSpc>
                <a:spcPct val="115000"/>
              </a:lnSpc>
              <a:spcAft>
                <a:spcPts val="16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Flask web app + JSON API for real-time predictions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263640" y="1737360"/>
            <a:ext cx="5349240" cy="3931920"/>
          </a:xfrm>
          <a:prstGeom prst="roundRect">
            <a:avLst>
              <a:gd name="adj" fmla="val 1860"/>
            </a:avLst>
          </a:prstGeom>
          <a:solidFill>
            <a:srgbClr val="FFF4EC"/>
          </a:solidFill>
          <a:ln w="12700">
            <a:solidFill>
              <a:srgbClr val="E3E7F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37960" y="19659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470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work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537960" y="2423160"/>
            <a:ext cx="47548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15000"/>
              </a:lnSpc>
              <a:spcAft>
                <a:spcPts val="16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Fine-tune a transformer (BERT/DistilBERT) for sarcasm &amp; context</a:t>
            </a:r>
            <a:endParaRPr lang="en-US" sz="1350" dirty="0"/>
          </a:p>
          <a:p>
            <a:pPr marL="228600" indent="-228600">
              <a:lnSpc>
                <a:spcPct val="115000"/>
              </a:lnSpc>
              <a:spcAft>
                <a:spcPts val="16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location column (geocoded) as an extra feature</a:t>
            </a:r>
            <a:endParaRPr lang="en-US" sz="1350" dirty="0"/>
          </a:p>
          <a:p>
            <a:pPr marL="228600" indent="-228600">
              <a:lnSpc>
                <a:spcPct val="115000"/>
              </a:lnSpc>
              <a:spcAft>
                <a:spcPts val="16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to a live Twitter/X API stream for real monitoring</a:t>
            </a:r>
            <a:endParaRPr lang="en-US" sz="1350" dirty="0"/>
          </a:p>
          <a:p>
            <a:pPr marL="228600" indent="-228600">
              <a:lnSpc>
                <a:spcPct val="115000"/>
              </a:lnSpc>
              <a:spcAft>
                <a:spcPts val="16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model monitoring &amp; periodic retraining as slang evolves</a:t>
            </a:r>
            <a:endParaRPr lang="en-US" sz="1350" dirty="0"/>
          </a:p>
          <a:p>
            <a:pPr marL="228600" indent="-228600">
              <a:lnSpc>
                <a:spcPct val="115000"/>
              </a:lnSpc>
              <a:spcAft>
                <a:spcPts val="16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the train/test F1 gap with stronger regularization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11000232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670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 / 12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822</Words>
  <Application>Microsoft Office PowerPoint</Application>
  <PresentationFormat>Widescreen</PresentationFormat>
  <Paragraphs>167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Musab Mirza</cp:lastModifiedBy>
  <cp:revision>2</cp:revision>
  <dcterms:created xsi:type="dcterms:W3CDTF">2026-09-14T13:25:33Z</dcterms:created>
  <dcterms:modified xsi:type="dcterms:W3CDTF">2026-09-14T13:28:57Z</dcterms:modified>
</cp:coreProperties>
</file>